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A9D02-4B9F-41A8-AE3A-36B0C1577AF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9EE4-F361-4C2C-AD1D-B47A3D22D8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4553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A9D02-4B9F-41A8-AE3A-36B0C1577AF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9EE4-F361-4C2C-AD1D-B47A3D22D8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055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A9D02-4B9F-41A8-AE3A-36B0C1577AF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9EE4-F361-4C2C-AD1D-B47A3D22D8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284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A9D02-4B9F-41A8-AE3A-36B0C1577AF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9EE4-F361-4C2C-AD1D-B47A3D22D8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068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A9D02-4B9F-41A8-AE3A-36B0C1577AF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9EE4-F361-4C2C-AD1D-B47A3D22D8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144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A9D02-4B9F-41A8-AE3A-36B0C1577AF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9EE4-F361-4C2C-AD1D-B47A3D22D8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227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A9D02-4B9F-41A8-AE3A-36B0C1577AF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9EE4-F361-4C2C-AD1D-B47A3D22D8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361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A9D02-4B9F-41A8-AE3A-36B0C1577AF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9EE4-F361-4C2C-AD1D-B47A3D22D8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392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A9D02-4B9F-41A8-AE3A-36B0C1577AF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9EE4-F361-4C2C-AD1D-B47A3D22D8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815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A9D02-4B9F-41A8-AE3A-36B0C1577AF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9EE4-F361-4C2C-AD1D-B47A3D22D8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735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A9D02-4B9F-41A8-AE3A-36B0C1577AF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9EE4-F361-4C2C-AD1D-B47A3D22D8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098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A9D02-4B9F-41A8-AE3A-36B0C1577AF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B9EE4-F361-4C2C-AD1D-B47A3D22D8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652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 smtClean="0"/>
              <a:t>MEDISYN LABS CASE STUDY</a:t>
            </a:r>
            <a:endParaRPr lang="en-IN" sz="4000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solution to classify customer reviews as positive or negative.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model to predict the effectiveness rating of a medicine.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cohorts of customers with similar reviews and ratings.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medicine recommendation solution based on user symptoms and past reviews</a:t>
            </a:r>
            <a:r>
              <a:rPr lang="en-I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59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500" b="1" dirty="0" smtClean="0"/>
              <a:t>TASK 1: CUSTOMER REVIEW CLASSIFICATION</a:t>
            </a:r>
            <a:endParaRPr lang="en-IN" sz="35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40741"/>
          </a:xfrm>
        </p:spPr>
        <p:txBody>
          <a:bodyPr>
            <a:normAutofit fontScale="92500" lnSpcReduction="10000"/>
          </a:bodyPr>
          <a:lstStyle/>
          <a:p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solution to classify customer reviews as positive or negative</a:t>
            </a:r>
            <a:r>
              <a:rPr lang="en-I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target variable </a:t>
            </a:r>
            <a:r>
              <a:rPr lang="en-IN" sz="1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(‘Rating’)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10 star-ratings of customer overall satisfaction. Since, the task requires to segment reviews as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‘positive’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‘negative’,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target variable is converted to variable </a:t>
            </a:r>
            <a:r>
              <a:rPr lang="en-IN" sz="1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IN" sz="16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Review_Type</a:t>
            </a:r>
            <a:r>
              <a:rPr lang="en-IN" sz="1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will record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reviews as positive if the </a:t>
            </a:r>
            <a:r>
              <a:rPr lang="en-IN" sz="1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‘Rating’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greater than and equal to 8 and ‘negative’ if it is less than 8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This threshold is selected based on analysis of words frequency in the variable.</a:t>
            </a:r>
          </a:p>
          <a:p>
            <a:pPr marL="457200" lvl="1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Exploration: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initially explored for number of samples and features, visualization of the target features, frequently occurring words, and missing data.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Pre-processing and Cleaning: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this step, following process is carried out.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target feature(Rating) is converted into desired labels (positive and negative) to reflect actual labels.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 final feature is designed by combining all the textual features (overall review, benefit review, and side effect review).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text is cleaned for URLs, punctuations, special characters, sequences less than 5 and converted to lower case.</a:t>
            </a:r>
          </a:p>
          <a:p>
            <a:pPr marL="1371600" lvl="3" indent="0">
              <a:buNone/>
            </a:pPr>
            <a:r>
              <a:rPr lang="en-IN" sz="1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Note: The stop words are not filtered since it will remove the text essential for negative reviews.</a:t>
            </a:r>
            <a:r>
              <a:rPr lang="en-IN" sz="1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missing data is removed from the features.</a:t>
            </a:r>
          </a:p>
          <a:p>
            <a:pPr marL="1371600" lvl="3" indent="0">
              <a:buNone/>
            </a:pPr>
            <a:endParaRPr lang="en-IN" sz="14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3" indent="0">
              <a:buNone/>
            </a:pPr>
            <a:r>
              <a:rPr lang="en-I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771650" lvl="3" indent="-400050">
              <a:buFont typeface="+mj-lt"/>
              <a:buAutoNum type="romanLcPeriod"/>
            </a:pPr>
            <a:endParaRPr lang="en-IN" sz="14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3" indent="0">
              <a:buNone/>
            </a:pPr>
            <a:endParaRPr lang="en-IN" sz="14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791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406" y="423544"/>
            <a:ext cx="10515600" cy="6194969"/>
          </a:xfrm>
        </p:spPr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 startAt="3"/>
            </a:pPr>
            <a:r>
              <a:rPr lang="en-IN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Encoding: </a:t>
            </a:r>
            <a:r>
              <a:rPr lang="en-IN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2 types of encoding schemes used in the approach. </a:t>
            </a:r>
            <a:r>
              <a:rPr lang="en-IN" sz="1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TF-IDF</a:t>
            </a:r>
            <a:r>
              <a:rPr lang="en-IN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encoding scheme are used for classical ML algorithms and </a:t>
            </a:r>
            <a:r>
              <a:rPr lang="en-IN" sz="1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pre-trained BERT embedding </a:t>
            </a:r>
            <a:r>
              <a:rPr lang="en-IN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pre-trained BERT model.</a:t>
            </a:r>
            <a:r>
              <a:rPr lang="en-IN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14400" lvl="1" indent="-457200">
              <a:buFont typeface="+mj-lt"/>
              <a:buAutoNum type="arabicPeriod" startAt="3"/>
            </a:pPr>
            <a:r>
              <a:rPr lang="en-IN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Development: </a:t>
            </a:r>
            <a:r>
              <a:rPr lang="en-IN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algorithms used for model development are </a:t>
            </a:r>
            <a:r>
              <a:rPr lang="en-IN" sz="1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Regression, Naïve Bayes, Random Forest and pre-trained BERT model</a:t>
            </a:r>
            <a:r>
              <a:rPr lang="en-IN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+mj-lt"/>
              <a:buAutoNum type="arabicPeriod" startAt="3"/>
            </a:pPr>
            <a:r>
              <a:rPr lang="en-IN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 </a:t>
            </a:r>
            <a:r>
              <a:rPr lang="en-IN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evaluation metrics used for evaluation is </a:t>
            </a:r>
            <a:r>
              <a:rPr lang="en-IN" sz="1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recall, and f-score</a:t>
            </a:r>
            <a:r>
              <a:rPr lang="en-IN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1" indent="0">
              <a:buNone/>
            </a:pPr>
            <a:endParaRPr lang="en-IN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457200" lvl="1" indent="0">
              <a:buNone/>
            </a:pPr>
            <a:endParaRPr lang="en-I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I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I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IN" sz="1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More model experimentation is required for achieving accurate classification of reviews.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IN" sz="1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Customized list of stop words are required for classical machine learning algorithms.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IN" sz="1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Less data points available for review classification.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IN" sz="1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embedding may not be able to capture similarities and context in data well. 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IN" sz="1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Hyper-tuning of models are required for achieving good results.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IN" sz="1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331292"/>
              </p:ext>
            </p:extLst>
          </p:nvPr>
        </p:nvGraphicFramePr>
        <p:xfrm>
          <a:off x="1558832" y="2563811"/>
          <a:ext cx="10284825" cy="1854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056965">
                  <a:extLst>
                    <a:ext uri="{9D8B030D-6E8A-4147-A177-3AD203B41FA5}">
                      <a16:colId xmlns:a16="http://schemas.microsoft.com/office/drawing/2014/main" val="2984327047"/>
                    </a:ext>
                  </a:extLst>
                </a:gridCol>
                <a:gridCol w="2056965">
                  <a:extLst>
                    <a:ext uri="{9D8B030D-6E8A-4147-A177-3AD203B41FA5}">
                      <a16:colId xmlns:a16="http://schemas.microsoft.com/office/drawing/2014/main" val="3835482455"/>
                    </a:ext>
                  </a:extLst>
                </a:gridCol>
                <a:gridCol w="2056965">
                  <a:extLst>
                    <a:ext uri="{9D8B030D-6E8A-4147-A177-3AD203B41FA5}">
                      <a16:colId xmlns:a16="http://schemas.microsoft.com/office/drawing/2014/main" val="3762165031"/>
                    </a:ext>
                  </a:extLst>
                </a:gridCol>
                <a:gridCol w="2056965">
                  <a:extLst>
                    <a:ext uri="{9D8B030D-6E8A-4147-A177-3AD203B41FA5}">
                      <a16:colId xmlns:a16="http://schemas.microsoft.com/office/drawing/2014/main" val="3364483168"/>
                    </a:ext>
                  </a:extLst>
                </a:gridCol>
                <a:gridCol w="2056965">
                  <a:extLst>
                    <a:ext uri="{9D8B030D-6E8A-4147-A177-3AD203B41FA5}">
                      <a16:colId xmlns:a16="http://schemas.microsoft.com/office/drawing/2014/main" val="31988447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Model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Precision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</a:t>
                      </a:r>
                      <a:r>
                        <a:rPr lang="en-IN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F-Score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948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</a:t>
                      </a:r>
                      <a:r>
                        <a:rPr lang="en-IN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Regression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207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Naïve Bayes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3469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0.68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0.68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0.67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0.68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228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Pre-Trained BERT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051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64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500" b="1" dirty="0"/>
              <a:t>TASK </a:t>
            </a:r>
            <a:r>
              <a:rPr lang="en-IN" sz="3500" b="1" dirty="0" smtClean="0"/>
              <a:t>2: PREDICTION OF EFFECTIVENESS RATING</a:t>
            </a:r>
            <a:endParaRPr lang="en-IN" sz="35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00" i="1" dirty="0"/>
              <a:t>Develop a model to predict the effectiveness rating of a medicine</a:t>
            </a:r>
            <a:r>
              <a:rPr lang="en-IN" sz="1900" i="1" dirty="0" smtClean="0"/>
              <a:t>.</a:t>
            </a:r>
          </a:p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target variable </a:t>
            </a:r>
            <a:r>
              <a:rPr lang="en-IN" sz="1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(‘Effectiveness’)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5 step effectiveness rating in categorica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 labels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form. Since, the task requires to predict the rating of the effectiveness, hence, the target variable is converted to variable </a:t>
            </a:r>
            <a:r>
              <a:rPr lang="en-IN" sz="1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‘Effectiveness_ Rating’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will record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effectiveness rating in the scale of 1-5 (1: Highly effective and 5: Ineffective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endParaRPr lang="en-IN" sz="1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Exploration: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initially explored for number of samples and features, visualization of the target features, frequently occurring words, and missing data.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Pre-processing and Cleaning: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this step, following process is carried out.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target (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Effectiveness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is converted into desired labels rating (1-5) to reflect actual labels.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 final feature is designed by combining all the textual features (overall review, benefit review, and side effect review) and the categorical features (condition name and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edicine name).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text is cleaned for URLs, punctuations, special characters, sequences less than 5 and converted to lower case.</a:t>
            </a:r>
          </a:p>
          <a:p>
            <a:pPr marL="1371600" lvl="3" indent="0">
              <a:buNone/>
            </a:pPr>
            <a:r>
              <a:rPr lang="en-IN" sz="1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Note: The stop words are not filtered since it will remove the text essential for effectiveness and side effects.</a:t>
            </a:r>
            <a:r>
              <a:rPr lang="en-IN" sz="1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missing data is removed from the features.</a:t>
            </a:r>
          </a:p>
          <a:p>
            <a:pPr lvl="1"/>
            <a:endParaRPr lang="en-IN" sz="1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350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91886"/>
            <a:ext cx="10515600" cy="5785077"/>
          </a:xfrm>
        </p:spPr>
        <p:txBody>
          <a:bodyPr>
            <a:normAutofit/>
          </a:bodyPr>
          <a:lstStyle/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Data Imbalance Techniques: </a:t>
            </a:r>
            <a:r>
              <a:rPr lang="en-IN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Weighting technique </a:t>
            </a:r>
            <a:r>
              <a:rPr lang="en-IN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used to handle class imbalance in classical machine learning algorithms such as Logistic Regression and Random Forest. For pre-trained BERT Transformer, specific evaluation metrics such as weighted F-score and PR-AUC curve is used for evaluating the classes.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 Oversampling technique was also used for analysis but since, it led to overfitting and decrease in the model performance, hence the approach is removed from the analysis.</a:t>
            </a:r>
          </a:p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Encoding Techniques: </a:t>
            </a:r>
            <a:r>
              <a:rPr lang="en-IN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2 types of encoding schemes used in the approach. TF-IDF encoding scheme are used for classical ML algorithms and pre-trained BERT embedding for pre-trained BERT model. </a:t>
            </a:r>
          </a:p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Development: </a:t>
            </a:r>
            <a:r>
              <a:rPr lang="en-IN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algorithms used for model development are Logistic Regression, Naïve Bayes, Random Forest and pre-trained BERT model</a:t>
            </a:r>
            <a:r>
              <a:rPr lang="en-IN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 </a:t>
            </a:r>
            <a:r>
              <a:rPr lang="en-IN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evaluation metrics used for evaluation is weighted f-score, precision and recall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1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459476"/>
              </p:ext>
            </p:extLst>
          </p:nvPr>
        </p:nvGraphicFramePr>
        <p:xfrm>
          <a:off x="2162627" y="3750249"/>
          <a:ext cx="8426996" cy="1854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106749">
                  <a:extLst>
                    <a:ext uri="{9D8B030D-6E8A-4147-A177-3AD203B41FA5}">
                      <a16:colId xmlns:a16="http://schemas.microsoft.com/office/drawing/2014/main" val="2824827387"/>
                    </a:ext>
                  </a:extLst>
                </a:gridCol>
                <a:gridCol w="2106749">
                  <a:extLst>
                    <a:ext uri="{9D8B030D-6E8A-4147-A177-3AD203B41FA5}">
                      <a16:colId xmlns:a16="http://schemas.microsoft.com/office/drawing/2014/main" val="737977289"/>
                    </a:ext>
                  </a:extLst>
                </a:gridCol>
                <a:gridCol w="2106749">
                  <a:extLst>
                    <a:ext uri="{9D8B030D-6E8A-4147-A177-3AD203B41FA5}">
                      <a16:colId xmlns:a16="http://schemas.microsoft.com/office/drawing/2014/main" val="2771234793"/>
                    </a:ext>
                  </a:extLst>
                </a:gridCol>
                <a:gridCol w="2106749">
                  <a:extLst>
                    <a:ext uri="{9D8B030D-6E8A-4147-A177-3AD203B41FA5}">
                      <a16:colId xmlns:a16="http://schemas.microsoft.com/office/drawing/2014/main" val="1786181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Model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F-Score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Precision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Recall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330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</a:t>
                      </a:r>
                      <a:r>
                        <a:rPr lang="en-IN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Regression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0.48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915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Naïve Bayes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328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285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Pre-Trained BERT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808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3907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2737" y="397419"/>
            <a:ext cx="10515600" cy="4351338"/>
          </a:xfrm>
        </p:spPr>
        <p:txBody>
          <a:bodyPr/>
          <a:lstStyle/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1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More model experimentation is required for achieving good effectiveness rating.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1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Customized list of stop words are required for classical machine learning algorithms.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1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Less data points available for predicting the effectiveness rating in the minority class.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1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embedding may not be able to capture similarities and context in data well.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1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Hyper-tuning of models are required for achieving good results</a:t>
            </a:r>
            <a:r>
              <a:rPr lang="en-IN" sz="11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1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 augmentation techniques may be used in the analysis</a:t>
            </a:r>
            <a:r>
              <a:rPr lang="en-IN" sz="11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7564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 smtClean="0"/>
              <a:t>TASK 3: CUSTOMER RATING WITH SIMILAR REVIEWS AND RATINGS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00" b="0" i="1" dirty="0" smtClean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cohorts of customers with similar reviews and ratings.</a:t>
            </a:r>
          </a:p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Pre-processing and Cleaning:</a:t>
            </a:r>
            <a:r>
              <a:rPr lang="en-IN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this step, following process is carried out.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IN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 final feature is designed by combining all the textual features (overall review, benefit review, and side effect review) and the categorical features (condition name and medicine name).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IN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missing data is removed from the features.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Encoding Techniques: </a:t>
            </a:r>
            <a:r>
              <a:rPr lang="en-IN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encoding reviews, Sentence Transformers embedding is used. The features such as Effectiveness and Side Effects are encoded into numerical representation on the scale of (1-5) ratings.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Development: </a:t>
            </a:r>
            <a:r>
              <a:rPr lang="en-IN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identifying relevant cohorts of customers sharing similar reviews and ratings, </a:t>
            </a:r>
            <a:r>
              <a:rPr lang="en-IN" sz="15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 algorithm</a:t>
            </a:r>
            <a:r>
              <a:rPr lang="en-IN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used. Further, for finding the best clusters </a:t>
            </a:r>
            <a:r>
              <a:rPr lang="en-IN" sz="15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silhouette method </a:t>
            </a:r>
            <a:r>
              <a:rPr lang="en-IN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used which accounts for selecting the number of clusters value that has highest silhouette score.</a:t>
            </a:r>
            <a:endParaRPr lang="en-IN" sz="1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 </a:t>
            </a:r>
            <a:r>
              <a:rPr lang="en-IN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clusters identified by the k-means algorithm are visualized with the help of </a:t>
            </a:r>
            <a:r>
              <a:rPr lang="en-IN" sz="1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UMAP reduction technique and scatter plot.</a:t>
            </a:r>
            <a:endParaRPr lang="en-IN" sz="15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1462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04800"/>
            <a:ext cx="10515600" cy="5872163"/>
          </a:xfrm>
        </p:spPr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 </a:t>
            </a:r>
            <a:r>
              <a:rPr lang="en-IN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evaluation metrics used for assessing the quality of clusters are </a:t>
            </a:r>
            <a:r>
              <a:rPr lang="en-IN" sz="1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Silhouette Scores and Davies–</a:t>
            </a:r>
            <a:r>
              <a:rPr lang="en-IN" sz="15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Bouldin</a:t>
            </a:r>
            <a:r>
              <a:rPr lang="en-IN" sz="1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Index method.</a:t>
            </a:r>
          </a:p>
          <a:p>
            <a:pPr marL="0" indent="0">
              <a:buNone/>
            </a:pPr>
            <a:endParaRPr lang="en-IN" sz="15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Cohort 1: </a:t>
            </a:r>
            <a:r>
              <a:rPr lang="en-IN" sz="1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in this group find the medicine barely effective but highly uncomfortable due to side effects.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Cohort 2:</a:t>
            </a:r>
            <a:r>
              <a:rPr lang="en-IN" sz="1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This group perceives the medicine as very effective, with mild side effects. </a:t>
            </a:r>
          </a:p>
          <a:p>
            <a:pPr marL="457200" lvl="1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IN" sz="1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More experimentation with algorithms are required. Algorithms such as density-based (DBSCAN)or hierarchical clustering can improve the performance of clustering since the embedding can form complex and non-spherical shapes and K-Means only assumes roughly spherical clusters shape.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embedding model may not be able to capture similarities and context in data well. </a:t>
            </a:r>
            <a:r>
              <a:rPr lang="en-IN" sz="1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06785"/>
              </p:ext>
            </p:extLst>
          </p:nvPr>
        </p:nvGraphicFramePr>
        <p:xfrm>
          <a:off x="2981234" y="1511346"/>
          <a:ext cx="5056778" cy="111252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528389">
                  <a:extLst>
                    <a:ext uri="{9D8B030D-6E8A-4147-A177-3AD203B41FA5}">
                      <a16:colId xmlns:a16="http://schemas.microsoft.com/office/drawing/2014/main" val="839465317"/>
                    </a:ext>
                  </a:extLst>
                </a:gridCol>
                <a:gridCol w="2528389">
                  <a:extLst>
                    <a:ext uri="{9D8B030D-6E8A-4147-A177-3AD203B41FA5}">
                      <a16:colId xmlns:a16="http://schemas.microsoft.com/office/drawing/2014/main" val="10632801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 Metric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Score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990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Silhouette Method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0.574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123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Davies-</a:t>
                      </a:r>
                      <a:r>
                        <a:rPr lang="en-IN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Bouldin</a:t>
                      </a:r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Index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0.662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32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6384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/>
              <a:t>TASK </a:t>
            </a:r>
            <a:r>
              <a:rPr lang="en-IN" sz="4000" b="1" dirty="0" smtClean="0"/>
              <a:t>4: MEDICINE RECOMMENDATION SYSTEM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4332"/>
            <a:ext cx="10515600" cy="500742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00" b="0" i="1" dirty="0" smtClean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medicine recommendation solution based on user symptoms and past reviews.</a:t>
            </a:r>
          </a:p>
          <a:p>
            <a:pPr marL="0" indent="0">
              <a:spcBef>
                <a:spcPts val="0"/>
              </a:spcBef>
              <a:buNone/>
            </a:pPr>
            <a:endParaRPr lang="en-IN" sz="1900" b="0" i="1" dirty="0" smtClean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0" indent="0">
              <a:spcBef>
                <a:spcPts val="0"/>
              </a:spcBef>
              <a:buNone/>
            </a:pPr>
            <a:endParaRPr lang="en-I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</a:pP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is loaded using pandas.</a:t>
            </a:r>
          </a:p>
          <a:p>
            <a:pPr lvl="1">
              <a:spcBef>
                <a:spcPts val="0"/>
              </a:spcBef>
            </a:pP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feature used for analysis is designed by combining features; </a:t>
            </a:r>
            <a:r>
              <a:rPr lang="en-IN" sz="1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Condition, Benefit Review, Side Effect Review and Overall Review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spcBef>
                <a:spcPts val="0"/>
              </a:spcBef>
            </a:pP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feature is encoded using the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N" sz="1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Transformers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 embedding model.</a:t>
            </a:r>
          </a:p>
          <a:p>
            <a:pPr lvl="1">
              <a:spcBef>
                <a:spcPts val="0"/>
              </a:spcBef>
            </a:pP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features such as </a:t>
            </a:r>
            <a:r>
              <a:rPr lang="en-IN" sz="1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Effectiveness and Side Effects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are encoded on the scale of (1-5). Further, they are normalized on the scale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(0-1) to avoid dominance on similarity score.</a:t>
            </a:r>
          </a:p>
          <a:p>
            <a:pPr lvl="1">
              <a:spcBef>
                <a:spcPts val="0"/>
              </a:spcBef>
            </a:pPr>
            <a:r>
              <a:rPr lang="en-IN" sz="1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similarity scores are calculated based on the </a:t>
            </a:r>
            <a:r>
              <a:rPr lang="en-IN" sz="15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 score</a:t>
            </a:r>
            <a:r>
              <a:rPr lang="en-IN" sz="1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The final top recommendation score is calculated based on the similarity score, normalized effective and side effect rating with weighting mechanism calculated heuristically.</a:t>
            </a:r>
          </a:p>
          <a:p>
            <a:pPr lvl="1">
              <a:spcBef>
                <a:spcPts val="0"/>
              </a:spcBef>
            </a:pPr>
            <a:r>
              <a:rPr lang="en-IN" sz="1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evaluation metrics used for evaluation of recommendation system are </a:t>
            </a:r>
            <a:r>
              <a:rPr lang="en-IN" sz="15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precision@k</a:t>
            </a:r>
            <a:r>
              <a:rPr lang="en-IN" sz="15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5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recall@k</a:t>
            </a:r>
            <a:r>
              <a:rPr lang="en-IN" sz="15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5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fscore@k</a:t>
            </a:r>
            <a:r>
              <a:rPr lang="en-IN" sz="1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1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embedding model may not be able to capture similarities and context in data well. To increase semantic understanding, domain specific embedding models can be used.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1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weights assigned to the parameters while calculating recommendation scores are not optimal. Use 2 stage weighting mechanism. At stage 1, find most relevant top N medicines for symptoms using cosine similarity and Sentence embedding. Stage 2 will account for training a supervised ranking model to predict how effective each recommendations will be in top N recommendations.</a:t>
            </a:r>
            <a:endParaRPr lang="en-IN" sz="11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</a:pPr>
            <a:endParaRPr lang="en-IN" sz="15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</a:pPr>
            <a:endParaRPr lang="en-IN" sz="1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</a:pPr>
            <a:endParaRPr lang="en-IN" sz="15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</a:pP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589778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87680"/>
            <a:ext cx="10515600" cy="568928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IN" sz="1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may contain duplicate records and contradictory reviews.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IN" sz="15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the weights for the scoring metric used for evaluating recommendation system  are estimated heuristically. Grid search CV technique can be used for tuning the scoring weights.</a:t>
            </a:r>
          </a:p>
          <a:p>
            <a:pPr marL="0" indent="0">
              <a:buNone/>
            </a:pP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0" indent="0">
              <a:buNone/>
            </a:pPr>
            <a:endParaRPr lang="en-I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 startAt="3"/>
            </a:pP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677563"/>
              </p:ext>
            </p:extLst>
          </p:nvPr>
        </p:nvGraphicFramePr>
        <p:xfrm>
          <a:off x="1849120" y="2165289"/>
          <a:ext cx="8128000" cy="14833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3232710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0857699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</a:t>
                      </a:r>
                      <a:r>
                        <a:rPr lang="en-IN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Metric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Score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083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Precision@k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794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Recall@k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450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F-Score@k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260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0452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1572</Words>
  <Application>Microsoft Office PowerPoint</Application>
  <PresentationFormat>Widescreen</PresentationFormat>
  <Paragraphs>171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MEDISYN LABS CASE STUDY</vt:lpstr>
      <vt:lpstr>TASK 1: CUSTOMER REVIEW CLASSIFICATION</vt:lpstr>
      <vt:lpstr>PowerPoint Presentation</vt:lpstr>
      <vt:lpstr>TASK 2: PREDICTION OF EFFECTIVENESS RATING</vt:lpstr>
      <vt:lpstr>PowerPoint Presentation</vt:lpstr>
      <vt:lpstr>PowerPoint Presentation</vt:lpstr>
      <vt:lpstr>TASK 3: CUSTOMER RATING WITH SIMILAR REVIEWS AND RATINGS</vt:lpstr>
      <vt:lpstr>PowerPoint Presentation</vt:lpstr>
      <vt:lpstr>TASK 4: MEDICINE RECOMMENDATION SYSTEM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MEDISYN LABS CASE STUDY</dc:title>
  <dc:creator>Windows User</dc:creator>
  <cp:lastModifiedBy>Windows User</cp:lastModifiedBy>
  <cp:revision>40</cp:revision>
  <dcterms:created xsi:type="dcterms:W3CDTF">2025-11-14T08:11:20Z</dcterms:created>
  <dcterms:modified xsi:type="dcterms:W3CDTF">2025-11-14T13:31:39Z</dcterms:modified>
</cp:coreProperties>
</file>